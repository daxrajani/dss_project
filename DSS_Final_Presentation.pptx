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280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Scalable E-Commerce Analytics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65176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5B9BD5"/>
                </a:solidFill>
              </a:rPr>
              <a:t>PySpark on GCP Dataproc  ·  42M+ Events  ·  5-Stage Distributed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3364992"/>
            <a:ext cx="10789920" cy="41148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354787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Dax Rajani (40294118)  ·  Harsh Ahuja (40301748)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07822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5E2"/>
                </a:solidFill>
              </a:rPr>
              <a:t>COEN 6731 — Distributed Software Systems  ·  Concordia University, Winter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5742432"/>
            <a:ext cx="2084831" cy="804672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5779008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4A41B"/>
                </a:solidFill>
              </a:rPr>
              <a:t>42.4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6172200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5E2"/>
                </a:solidFill>
              </a:rPr>
              <a:t>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7" y="5742432"/>
            <a:ext cx="2084831" cy="804672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7" y="5779008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4A41B"/>
                </a:solidFill>
              </a:rPr>
              <a:t>742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7" y="6172200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5E2"/>
                </a:solidFill>
              </a:rPr>
              <a:t>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4606" y="5742432"/>
            <a:ext cx="2084831" cy="804672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6" y="5779008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4A41B"/>
                </a:solidFill>
              </a:rPr>
              <a:t>166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6" y="6172200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5E2"/>
                </a:solidFill>
              </a:rPr>
              <a:t>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5" y="5742432"/>
            <a:ext cx="2084831" cy="804672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5" y="5779008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4A41B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5" y="6172200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5E2"/>
                </a:solidFill>
              </a:rPr>
              <a:t>pipeline stages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3724" y="5742432"/>
            <a:ext cx="2084831" cy="804672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4" y="5779008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4A41B"/>
                </a:solidFill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4" y="6172200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5E2"/>
                </a:solidFill>
              </a:rPr>
              <a:t>benchmark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B9BD5"/>
                </a:solidFill>
              </a:rPr>
              <a:t>Slide 1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553212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3E"/>
                </a:solidFill>
              </a:rPr>
              <a:t>The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325880"/>
            <a:ext cx="54864" cy="237744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" y="1563624"/>
            <a:ext cx="118872" cy="118872"/>
          </a:xfrm>
          <a:prstGeom prst="round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Scale: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92224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42M+ events: pandas times out. Need distributed Spark to process in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" y="2697480"/>
            <a:ext cx="118872" cy="118872"/>
          </a:xfrm>
          <a:prstGeom prst="round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Missing Features: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26080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Raw data lacks device &amp; referrer columns — synthesized via deterministic CRC32 hash on user_session.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" y="3831336"/>
            <a:ext cx="118872" cy="118872"/>
          </a:xfrm>
          <a:prstGeom prst="round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307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Multi-Stage Logic: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59936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Sessionization → Funnel → Attribution → Anomaly must form a reproducible, timed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" y="4965192"/>
            <a:ext cx="118872" cy="118872"/>
          </a:xfrm>
          <a:prstGeom prst="round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Cost vs. Performance: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93792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Is adding more workers worth the GCP cost? Quantify actual speedup vs. ideal scaling.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713232"/>
            <a:ext cx="58521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822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3E"/>
                </a:solidFill>
              </a:rPr>
              <a:t>Dataset &amp; Research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325880"/>
            <a:ext cx="54864" cy="237744"/>
          </a:xfrm>
          <a:prstGeom prst="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536192"/>
            <a:ext cx="5486400" cy="1481328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1591056"/>
            <a:ext cx="5285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41B"/>
                </a:solidFill>
              </a:rPr>
              <a:t>REES46 eCommerce Behavior Data  (Kaggle, Oct 2019)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993392"/>
            <a:ext cx="5285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F6FA"/>
                </a:solidFill>
              </a:rPr>
              <a:t>  42,448,764 events   ·   742,849 orders   ·   166,794 products
  Columns: event_time · event_type · product_id · category_code
            brand · price · user_id · user_session
  Synthesized: device (mobile / desktop / tablet)  ·  referrer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154680"/>
            <a:ext cx="475488" cy="347472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15468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3154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</a:rPr>
              <a:t>What is the view → cart → purchase conversion funnel by category &amp; channel?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21608"/>
            <a:ext cx="475488" cy="347472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72160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7216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</a:rPr>
              <a:t>Which referrer channel drives the most revenue? (last-touch attribution)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288536"/>
            <a:ext cx="475488" cy="347472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2885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42885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</a:rPr>
              <a:t>Are there anomalous SPIKE / DROP days in daily purchases? (z-score)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55464"/>
            <a:ext cx="475488" cy="347472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85546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48554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</a:rPr>
              <a:t>How does throughput scale with cluster size and data volume?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B9BD5"/>
                </a:solidFill>
              </a:rPr>
              <a:t>Slide 2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694944"/>
            <a:ext cx="11667744" cy="5102352"/>
          </a:xfrm>
          <a:prstGeom prst="rect">
            <a:avLst/>
          </a:prstGeom>
          <a:noFill/>
          <a:ln w="27940">
            <a:solidFill>
              <a:srgbClr val="1A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694944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EA8"/>
                </a:solidFill>
              </a:rPr>
              <a:t>GCP Dataproc Cluster  (1 Master + 2 / 4 / 5 Workers, n1-standard-4, us-central1)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" y="1554480"/>
            <a:ext cx="1481328" cy="877824"/>
          </a:xfrm>
          <a:prstGeom prst="round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572768"/>
            <a:ext cx="148132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GCS Input
CSV
(42M rows)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10512" y="1975104"/>
            <a:ext cx="292608" cy="36576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84831" y="1316736"/>
            <a:ext cx="1664208" cy="1207008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1" y="1362456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1
ETL &amp;
Enrichment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192024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CRC32 → device
&amp; referrer
Parquet write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901952"/>
            <a:ext cx="219456" cy="36576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68495" y="1316736"/>
            <a:ext cx="1664208" cy="1207008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5" y="1362456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2
Session-
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5" y="192024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30-min inactivity
lag() window
session_id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2703" y="1901952"/>
            <a:ext cx="219456" cy="36576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52159" y="1316736"/>
            <a:ext cx="1664208" cy="1207008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59" y="1362456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3
Funnel
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92024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view→cart→buy
by category
device/referrer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16367" y="1901952"/>
            <a:ext cx="219456" cy="36576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35823" y="1316736"/>
            <a:ext cx="1664208" cy="1207008"/>
          </a:xfrm>
          <a:prstGeom prst="round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3" y="1362456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4
Attribution
Last-Touch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192024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24-hr join
row_number()
non-direct ref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00031" y="1901952"/>
            <a:ext cx="219456" cy="36576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19487" y="1316736"/>
            <a:ext cx="1664208" cy="1207008"/>
          </a:xfrm>
          <a:prstGeom prst="roundRect">
            <a:avLst/>
          </a:prstGeom>
          <a:solidFill>
            <a:srgbClr val="6B2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9487" y="1362456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5
Anomaly
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7" y="192024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7-day z-score
|z|&gt;2 → SPIKE
per-category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503151" y="1554480"/>
            <a:ext cx="1325880" cy="877824"/>
          </a:xfrm>
          <a:prstGeom prst="round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283695" y="1901952"/>
            <a:ext cx="219456" cy="36576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03151" y="1572768"/>
            <a:ext cx="1325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GCS Output
Parquet
(results)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1" y="2578608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57A"/>
                </a:solidFill>
              </a:rPr>
              <a:t>224s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8495" y="2578608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57A"/>
                </a:solidFill>
              </a:rPr>
              <a:t>185s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59" y="2578608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57A"/>
                </a:solidFill>
              </a:rPr>
              <a:t>incl.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5823" y="2578608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57A"/>
                </a:solidFill>
              </a:rPr>
              <a:t>64s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7" y="2578608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57A"/>
                </a:solidFill>
              </a:rPr>
              <a:t>16s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" y="257860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57A"/>
                </a:solidFill>
              </a:rPr>
              <a:t>5w / 10GB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" y="3017520"/>
            <a:ext cx="11612880" cy="2505456"/>
          </a:xfrm>
          <a:prstGeom prst="rect">
            <a:avLst/>
          </a:prstGeom>
          <a:noFill/>
          <a:ln w="1524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30723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Cluster Topology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3474720"/>
            <a:ext cx="1828800" cy="7772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34747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Master Node
SparkContext / YARN RM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3474720"/>
            <a:ext cx="1828800" cy="7772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34747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Worker 1
n1-std-4
4 vCPU / 15GB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04288" y="3822192"/>
            <a:ext cx="438912" cy="36576"/>
          </a:xfrm>
          <a:prstGeom prst="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54880" y="3474720"/>
            <a:ext cx="1828800" cy="7772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34747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Worker 2
n1-std-4
4 vCPU / 15GB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04288" y="3822192"/>
            <a:ext cx="2450592" cy="36576"/>
          </a:xfrm>
          <a:prstGeom prst="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766560" y="3474720"/>
            <a:ext cx="1828800" cy="7772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34747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Worker 3
n1-std-4
4 vCPU / 15GB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04288" y="3822192"/>
            <a:ext cx="4462272" cy="36576"/>
          </a:xfrm>
          <a:prstGeom prst="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778240" y="3474720"/>
            <a:ext cx="1828800" cy="7772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34747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Worker 4
n1-std-4
4 vCPU / 15GB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04288" y="3822192"/>
            <a:ext cx="6473952" cy="36576"/>
          </a:xfrm>
          <a:prstGeom prst="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789920" y="3474720"/>
            <a:ext cx="1828800" cy="7772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89920" y="34747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Worker 5
n1-std-4
4 vCPU / 15GB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04288" y="3822192"/>
            <a:ext cx="8485632" cy="36576"/>
          </a:xfrm>
          <a:prstGeom prst="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444398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7A8A"/>
                </a:solidFill>
              </a:rPr>
              <a:t>↕  GCS (gs://dss-project-dax)  —  Parquet read/write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9184" y="5925312"/>
            <a:ext cx="219456" cy="219456"/>
          </a:xfrm>
          <a:prstGeom prst="round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" y="5907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GCS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975104" y="5925312"/>
            <a:ext cx="219456" cy="219456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49424" y="5907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ETL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21024" y="5925312"/>
            <a:ext cx="219456" cy="219456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95344" y="5907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Sessionize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66944" y="5925312"/>
            <a:ext cx="219456" cy="219456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41264" y="5907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Funnel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12864" y="5925312"/>
            <a:ext cx="219456" cy="219456"/>
          </a:xfrm>
          <a:prstGeom prst="round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87184" y="5907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Attribution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58784" y="5925312"/>
            <a:ext cx="219456" cy="219456"/>
          </a:xfrm>
          <a:prstGeom prst="roundRect">
            <a:avLst/>
          </a:prstGeom>
          <a:solidFill>
            <a:srgbClr val="6B2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33104" y="5907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Anomaly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Implementation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B9BD5"/>
                </a:solidFill>
              </a:rPr>
              <a:t>Slide 3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914400"/>
            <a:ext cx="2560320" cy="365760"/>
          </a:xfrm>
          <a:prstGeom prst="round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408176"/>
            <a:ext cx="2560320" cy="749808"/>
          </a:xfrm>
          <a:prstGeom prst="round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45389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REES46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556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42M rows / 5.3 GB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2304288"/>
            <a:ext cx="2560320" cy="749808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235000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enriched_events/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26517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Parquet (device + referrer)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3200400"/>
            <a:ext cx="2560320" cy="749808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32461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orders /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35478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(derived tables)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4096512"/>
            <a:ext cx="2560320" cy="749808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14223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funnel_metrics/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44439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attribution/ anomalies/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27248" y="914400"/>
            <a:ext cx="2834640" cy="36576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914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CORE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7248" y="1408176"/>
            <a:ext cx="2834640" cy="749808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145389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etl_enrichment.py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17556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CRC32 hash · Parquet write · 229 lines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7248" y="2304288"/>
            <a:ext cx="2834640" cy="749808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27248" y="235000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benchmark_job.py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26517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Orchestrator · Sessionization · Funnel · 259 lines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7248" y="3200400"/>
            <a:ext cx="2834640" cy="749808"/>
          </a:xfrm>
          <a:prstGeom prst="round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324612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attribution.py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248" y="35478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Last-touch join · row_number() · 285 lines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27248" y="4096512"/>
            <a:ext cx="2834640" cy="749808"/>
          </a:xfrm>
          <a:prstGeom prst="roundRect">
            <a:avLst/>
          </a:prstGeom>
          <a:solidFill>
            <a:srgbClr val="6B2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7248" y="414223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anomaly_detection.py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7248" y="444398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7-day z-score · SPIKE/DROP text · 279 lines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914400"/>
            <a:ext cx="2651760" cy="365760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914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OPTIMIZATIONS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4" y="1408176"/>
            <a:ext cx="2651760" cy="749808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145389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broadcast_join_opt.py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17556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Shuffle vs broadcast join · 213 lines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72784" y="2304288"/>
            <a:ext cx="2651760" cy="749808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235000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partition_analysis.py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2651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Date-partitioned Parquet · 177 lines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2784" y="3200400"/>
            <a:ext cx="2651760" cy="749808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2784" y="3246120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skew_analysis.py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2784" y="3547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Hot-key detection · salting · 315 lines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914400"/>
            <a:ext cx="2697480" cy="365760"/>
          </a:xfrm>
          <a:prstGeom prst="round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9144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CLOUD / INFRA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1408176"/>
            <a:ext cx="2697480" cy="749808"/>
          </a:xfrm>
          <a:prstGeom prst="round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1453896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cloud_pipeline.py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175564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Full Dataproc pipeline · 554 lines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2304288"/>
            <a:ext cx="2697480" cy="749808"/>
          </a:xfrm>
          <a:prstGeom prst="round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2350008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cloud_submit.sh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265176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Parameterized job submission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3200400"/>
            <a:ext cx="2697480" cy="749808"/>
          </a:xfrm>
          <a:prstGeom prst="round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3246120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demo.sh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54787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Live demo entry point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4096512"/>
            <a:ext cx="2697480" cy="749808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414223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streaming_job.py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444398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Structured streaming demo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2679192"/>
            <a:ext cx="274320" cy="36576"/>
          </a:xfrm>
          <a:prstGeom prst="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072384" y="2624328"/>
            <a:ext cx="73152" cy="146304"/>
          </a:xfrm>
          <a:prstGeom prst="round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80176" y="2679192"/>
            <a:ext cx="274320" cy="36576"/>
          </a:xfrm>
          <a:prstGeom prst="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217920" y="2624328"/>
            <a:ext cx="73152" cy="146304"/>
          </a:xfrm>
          <a:prstGeom prst="round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42832" y="2679192"/>
            <a:ext cx="274320" cy="36576"/>
          </a:xfrm>
          <a:prstGeom prst="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80576" y="2624328"/>
            <a:ext cx="73152" cy="146304"/>
          </a:xfrm>
          <a:prstGeom prst="roundRect">
            <a:avLst/>
          </a:prstGeom>
          <a:solidFill>
            <a:srgbClr val="CC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6032" y="6309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7A"/>
                </a:solidFill>
              </a:rPr>
              <a:t>Raw → Processed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27248" y="63093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7A"/>
                </a:solidFill>
              </a:rPr>
              <a:t>Reads Parquet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72784" y="63093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7A"/>
                </a:solidFill>
              </a:rPr>
              <a:t>Uses Parquet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35440" y="630936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7A"/>
                </a:solidFill>
              </a:rPr>
              <a:t>Runs on GCP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" y="6510528"/>
            <a:ext cx="11667744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5E2"/>
                </a:solidFill>
              </a:rPr>
              <a:t>Total codebase: ~4,080 lines of Python  ·  17 scripts  ·  Local (PySpark local[*])  +  Cloud (GCP Dataproc)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Pipeline Deep Dive — 5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B9BD5"/>
                </a:solidFill>
              </a:rPr>
              <a:t>Slide 4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694944"/>
            <a:ext cx="2240280" cy="5504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94944"/>
            <a:ext cx="2240280" cy="676656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7315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A"/>
                </a:solidFill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969264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ETL &amp;
Enrichment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563624"/>
            <a:ext cx="91440" cy="91440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463040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Read 42M-row CSV via spark.read.csv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313432"/>
            <a:ext cx="91440" cy="91440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212848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CRC32(user_session) → device, referrer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063240"/>
            <a:ext cx="91440" cy="91440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962656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Filter purchases → orders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813048"/>
            <a:ext cx="91440" cy="91440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712464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Write Parquet to GCS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632704"/>
            <a:ext cx="1911096" cy="475488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5632704"/>
            <a:ext cx="19110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224s write
(5w / 10GB)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15184" y="694944"/>
            <a:ext cx="2240280" cy="5504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15184" y="694944"/>
            <a:ext cx="2240280" cy="676656"/>
          </a:xfrm>
          <a:prstGeom prst="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15184" y="7315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A"/>
                </a:solidFill>
              </a:rPr>
              <a:t>Stage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4" y="969264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Session-
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98064" y="1563624"/>
            <a:ext cx="91440" cy="914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1463040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lag(event_time) per user_id window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98064" y="2313432"/>
            <a:ext cx="91440" cy="914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62656" y="2212848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Gap &gt; 30 min → new session flag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98064" y="3063240"/>
            <a:ext cx="91440" cy="914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2656" y="2962656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cumsum() → session index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98064" y="3813048"/>
            <a:ext cx="91440" cy="914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62656" y="3712464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session_id = user_id + '_' + idx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79776" y="5632704"/>
            <a:ext cx="1911096" cy="475488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79776" y="5632704"/>
            <a:ext cx="19110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185s write
(5w / 10GB)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74336" y="694944"/>
            <a:ext cx="2240280" cy="5504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74336" y="694944"/>
            <a:ext cx="2240280" cy="676656"/>
          </a:xfrm>
          <a:prstGeom prst="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7315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A"/>
                </a:solidFill>
              </a:rPr>
              <a:t>Stage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74336" y="969264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Funnel
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57216" y="1563624"/>
            <a:ext cx="91440" cy="91440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21808" y="1463040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view → cart → purchase events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57216" y="2313432"/>
            <a:ext cx="91440" cy="91440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21808" y="2212848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Group by category / device / referrer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57216" y="3063240"/>
            <a:ext cx="91440" cy="91440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21808" y="2962656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Daily and weekly granularity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57216" y="3813048"/>
            <a:ext cx="91440" cy="91440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21808" y="3712464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28,460 funnel rows (1GB run)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5632704"/>
            <a:ext cx="1911096" cy="475488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38928" y="5632704"/>
            <a:ext cx="19110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28,460
funnel rows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3488" y="694944"/>
            <a:ext cx="2240280" cy="5504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33488" y="694944"/>
            <a:ext cx="2240280" cy="676656"/>
          </a:xfrm>
          <a:prstGeom prst="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33488" y="7315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A"/>
                </a:solidFill>
              </a:rPr>
              <a:t>Stage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3488" y="969264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Attribution
(Last-Touch)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16368" y="1563624"/>
            <a:ext cx="91440" cy="91440"/>
          </a:xfrm>
          <a:prstGeom prst="round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1463040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Join orders ⊲⊳ sessions on user_id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16368" y="2313432"/>
            <a:ext cx="91440" cy="91440"/>
          </a:xfrm>
          <a:prstGeom prst="round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2212848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Filter: referrer ≠ 'direct'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16368" y="3063240"/>
            <a:ext cx="91440" cy="91440"/>
          </a:xfrm>
          <a:prstGeom prst="round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60" y="2962656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24-hour lookback window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16368" y="3813048"/>
            <a:ext cx="91440" cy="91440"/>
          </a:xfrm>
          <a:prstGeom prst="round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3712464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row_number() → most recent ref.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80" y="5632704"/>
            <a:ext cx="1911096" cy="475488"/>
          </a:xfrm>
          <a:prstGeom prst="round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80" y="5632704"/>
            <a:ext cx="19110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14.2s join
(5w / 1GB)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694944"/>
            <a:ext cx="2240280" cy="5504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92640" y="694944"/>
            <a:ext cx="2240280" cy="676656"/>
          </a:xfrm>
          <a:prstGeom prst="rect">
            <a:avLst/>
          </a:prstGeom>
          <a:solidFill>
            <a:srgbClr val="6B2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7315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F6FA"/>
                </a:solidFill>
              </a:rPr>
              <a:t>Stage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969264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Anomaly
Detection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75520" y="1563624"/>
            <a:ext cx="91440" cy="91440"/>
          </a:xfrm>
          <a:prstGeom prst="roundRect">
            <a:avLst/>
          </a:prstGeom>
          <a:solidFill>
            <a:srgbClr val="6B2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0112" y="1463040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Daily purchase counts (system + per-cat)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875520" y="2313432"/>
            <a:ext cx="91440" cy="91440"/>
          </a:xfrm>
          <a:prstGeom prst="roundRect">
            <a:avLst/>
          </a:prstGeom>
          <a:solidFill>
            <a:srgbClr val="6B2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40112" y="2212848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7-day rolling avg + stddev window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75520" y="3063240"/>
            <a:ext cx="91440" cy="91440"/>
          </a:xfrm>
          <a:prstGeom prst="roundRect">
            <a:avLst/>
          </a:prstGeom>
          <a:solidFill>
            <a:srgbClr val="6B2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40112" y="2962656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Flag |z-score| &gt; 2 as SPIKE / DROP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875520" y="3813048"/>
            <a:ext cx="91440" cy="91440"/>
          </a:xfrm>
          <a:prstGeom prst="roundRect">
            <a:avLst/>
          </a:prstGeom>
          <a:solidFill>
            <a:srgbClr val="6B2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40112" y="3712464"/>
            <a:ext cx="1783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8 system / 305 category anomalies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57232" y="5632704"/>
            <a:ext cx="1911096" cy="475488"/>
          </a:xfrm>
          <a:prstGeom prst="roundRect">
            <a:avLst/>
          </a:prstGeom>
          <a:solidFill>
            <a:srgbClr val="6B2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57232" y="5632704"/>
            <a:ext cx="19110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8 sys.
305 cat.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Performance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B9BD5"/>
                </a:solidFill>
              </a:rPr>
              <a:t>Slide 5 / 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94944"/>
            <a:ext cx="11667744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6032" y="4919472"/>
            <a:ext cx="3730752" cy="1005840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4956048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Broadcast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230368"/>
            <a:ext cx="3730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41B"/>
                </a:solidFill>
              </a:rPr>
              <a:t>1.58×  faster
11.33s → 7.15s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5559552"/>
            <a:ext cx="3730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Orders (153K rows) broadcast to all workers,
eliminating cross-node shuffle entirely.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8" y="4919472"/>
            <a:ext cx="3730752" cy="1005840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4956048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Partition Pruning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5230368"/>
            <a:ext cx="3730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41B"/>
                </a:solidFill>
              </a:rPr>
              <a:t>3.11×  single-day
1.73×  7-day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5559552"/>
            <a:ext cx="3730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Date-partitioned Parquet lets Spark skip entire
date directories — pure I/O reduction.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919472"/>
            <a:ext cx="3730752" cy="100584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0144" y="4956048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Skew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5230368"/>
            <a:ext cx="3730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41B"/>
                </a:solidFill>
              </a:rPr>
              <a:t>Salting was 2.28× SLOWER
34.6s → 79.1s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5559552"/>
            <a:ext cx="3730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F6FA"/>
                </a:solidFill>
              </a:rPr>
              <a:t>Top-1 user = 0.02% of events — no real skew.
Salting crossJoin overhead outweighed benefit.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Evaluation Results — Scaling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B9BD5"/>
                </a:solidFill>
              </a:rPr>
              <a:t>Slide 6 / 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94944"/>
            <a:ext cx="7040880" cy="37490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694944"/>
            <a:ext cx="457200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032" y="4526280"/>
            <a:ext cx="11667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Full Benchmark Summary  (Total Pipeline Time in Seconds)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4873752"/>
            <a:ext cx="137160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4873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7632" y="4873752"/>
            <a:ext cx="237744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4873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 GB  (~8.5M rows)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5072" y="4873752"/>
            <a:ext cx="237744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5072" y="4873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 GB  (~42.5M rows)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4873752"/>
            <a:ext cx="237744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873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10 GB  (~85M rows)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9952" y="4873752"/>
            <a:ext cx="2761488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4873752"/>
            <a:ext cx="2761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Throughput  (10 GB)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5193792"/>
            <a:ext cx="1371600" cy="320040"/>
          </a:xfrm>
          <a:prstGeom prst="rect">
            <a:avLst/>
          </a:prstGeom>
          <a:solidFill>
            <a:srgbClr val="0D1B3E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5193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2 Workers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5193792"/>
            <a:ext cx="2377440" cy="3200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51937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673.6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072" y="5193792"/>
            <a:ext cx="2377440" cy="3200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51937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1,021.8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5193792"/>
            <a:ext cx="2377440" cy="3200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51937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1,378.9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5193792"/>
            <a:ext cx="2761488" cy="3200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5193792"/>
            <a:ext cx="2761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61,569 rows/s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5513832"/>
            <a:ext cx="1371600" cy="320040"/>
          </a:xfrm>
          <a:prstGeom prst="rect">
            <a:avLst/>
          </a:prstGeom>
          <a:solidFill>
            <a:srgbClr val="0D1B3E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5513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4 Workers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27632" y="5513832"/>
            <a:ext cx="2377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55138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282.4 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05072" y="5513832"/>
            <a:ext cx="2377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55138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569.0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5513832"/>
            <a:ext cx="2377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55138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799.8 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59952" y="5513832"/>
            <a:ext cx="276148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952" y="5513832"/>
            <a:ext cx="2761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106,148 rows/s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5833872"/>
            <a:ext cx="1371600" cy="320040"/>
          </a:xfrm>
          <a:prstGeom prst="rect">
            <a:avLst/>
          </a:prstGeom>
          <a:solidFill>
            <a:srgbClr val="0D1B3E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5833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5 Workers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27632" y="5833872"/>
            <a:ext cx="2377440" cy="3200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27632" y="58338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256.9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5072" y="5833872"/>
            <a:ext cx="2377440" cy="3200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05072" y="58338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409.7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82512" y="5833872"/>
            <a:ext cx="2377440" cy="3200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58338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674.0 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59952" y="5833872"/>
            <a:ext cx="2761488" cy="3200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9952" y="5833872"/>
            <a:ext cx="2761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1B3E"/>
                </a:solidFill>
              </a:rPr>
              <a:t>125,961 rows/s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" y="6400800"/>
            <a:ext cx="1166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EA8"/>
                </a:solidFill>
              </a:rPr>
              <a:t>★  5 workers vs. 2 workers on 10 GB:  2.05× speedup  (674s → 1379s baseline)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Lessons Learned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B9BD5"/>
                </a:solidFill>
              </a:rPr>
              <a:t>Slide 7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31520"/>
            <a:ext cx="5687568" cy="2468880"/>
          </a:xfrm>
          <a:prstGeom prst="rect">
            <a:avLst/>
          </a:prstGeom>
          <a:solidFill>
            <a:srgbClr val="FFFFFF"/>
          </a:solidFill>
          <a:ln w="27940">
            <a:solidFill>
              <a:srgbClr val="1E8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731520"/>
            <a:ext cx="475488" cy="246888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76479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4992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A44"/>
                </a:solidFill>
              </a:rPr>
              <a:t>ETL I/O Dominates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07008"/>
            <a:ext cx="49926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At 10 GB, ETL Parquet write consumed 477 s out of 1,379 s total (35% of pipeline runtime). Distributed I/O is the primary bottleneck — not computation. Profile write strategies before tuning CPU-bound stages.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24912"/>
            <a:ext cx="4992624" cy="365760"/>
          </a:xfrm>
          <a:prstGeom prst="round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4992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ETL write: 477 s  /  Total: 1,379 s  =  35%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731520"/>
            <a:ext cx="5687568" cy="2468880"/>
          </a:xfrm>
          <a:prstGeom prst="rect">
            <a:avLst/>
          </a:prstGeom>
          <a:solidFill>
            <a:srgbClr val="FFFFFF"/>
          </a:solidFill>
          <a:ln w="27940">
            <a:solidFill>
              <a:srgbClr val="C0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731520"/>
            <a:ext cx="475488" cy="2468880"/>
          </a:xfrm>
          <a:prstGeom prst="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76479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822960"/>
            <a:ext cx="4992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2B2B"/>
                </a:solidFill>
              </a:rPr>
              <a:t>Salting Hurts on Low-Skew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1207008"/>
            <a:ext cx="49926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Applying 20-bucket salting to the attribution join was 2.28× slower (34.6 s → 79.1 s). The dataset had no meaningful hot key (top-1 user = 0.02%). Always measure skew before applying mitigation.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3136" y="2724912"/>
            <a:ext cx="4992624" cy="365760"/>
          </a:xfrm>
          <a:prstGeom prst="round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724912"/>
            <a:ext cx="4992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No salting: 34.6 s  →  With salting: 79.1 s  (0.44× speedup)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337560"/>
            <a:ext cx="5687568" cy="2468880"/>
          </a:xfrm>
          <a:prstGeom prst="rect">
            <a:avLst/>
          </a:prstGeom>
          <a:solidFill>
            <a:srgbClr val="FFFFFF"/>
          </a:solidFill>
          <a:ln w="27940">
            <a:solidFill>
              <a:srgbClr val="1A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3337560"/>
            <a:ext cx="475488" cy="2468880"/>
          </a:xfrm>
          <a:prstGeom prst="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437083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4992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A8"/>
                </a:solidFill>
              </a:rPr>
              <a:t>Broadcast Join Eliminates Network Shuffle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13048"/>
            <a:ext cx="49926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Broadcasting the smaller orders table (153 K rows) gave a 1.58× speedup by avoiding cross-node data transfer. The benefit grows with cluster size as more network hops are eliminated.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330952"/>
            <a:ext cx="4992624" cy="365760"/>
          </a:xfrm>
          <a:prstGeom prst="roundRect">
            <a:avLst/>
          </a:prstGeom>
          <a:solidFill>
            <a:srgbClr val="1A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30952"/>
            <a:ext cx="4992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Shuffle join: 11.33 s  →  Broadcast: 7.15 s  (1.58×)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3337560"/>
            <a:ext cx="5687568" cy="2468880"/>
          </a:xfrm>
          <a:prstGeom prst="rect">
            <a:avLst/>
          </a:prstGeom>
          <a:solidFill>
            <a:srgbClr val="FFFFFF"/>
          </a:solidFill>
          <a:ln w="27940">
            <a:solidFill>
              <a:srgbClr val="E07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3337560"/>
            <a:ext cx="475488" cy="2468880"/>
          </a:xfrm>
          <a:prstGeom prst="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437083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29000"/>
            <a:ext cx="4992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210"/>
                </a:solidFill>
              </a:rPr>
              <a:t>Storage Layout Beats Raw Compute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3813048"/>
            <a:ext cx="49926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Date-partitioned Parquet gave a 3.11× speedup on a single-day query — exceeding the 2.05× gained by growing the cluster from 2 → 5 workers. Data layout decisions often have larger impact than adding hardware.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03136" y="5330952"/>
            <a:ext cx="4992624" cy="365760"/>
          </a:xfrm>
          <a:prstGeom prst="roundRect">
            <a:avLst/>
          </a:prstGeom>
          <a:solidFill>
            <a:srgbClr val="E07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3136" y="5330952"/>
            <a:ext cx="4992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Flat query: 4.25 s  →  Partitioned: 1.37 s  (3.11×)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